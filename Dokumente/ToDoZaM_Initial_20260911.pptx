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640080"/>
            <a:ext cx="2743200" cy="5303520"/>
          </a:xfrm>
          <a:prstGeom prst="roundRect">
            <a:avLst/>
          </a:prstGeom>
          <a:solidFill>
            <a:srgbClr val="DAE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15400" y="914400"/>
            <a:ext cx="2514600" cy="4892040"/>
          </a:xfrm>
          <a:prstGeom prst="roundRect">
            <a:avLst/>
          </a:prstGeom>
          <a:solidFill>
            <a:srgbClr val="E8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0" y="1188719"/>
            <a:ext cx="2286000" cy="4480559"/>
          </a:xfrm>
          <a:prstGeom prst="roundRect">
            <a:avLst/>
          </a:prstGeom>
          <a:solidFill>
            <a:srgbClr val="F9E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536"/>
                </a:solidFill>
              </a:defRPr>
            </a:pPr>
            <a:r>
              <a:t>Personal Todo App</a:t>
            </a:r>
          </a:p>
          <a:p>
            <a:pPr>
              <a:spcBef>
                <a:spcPts val="800"/>
              </a:spcBef>
              <a:defRPr sz="2300">
                <a:solidFill>
                  <a:srgbClr val="3C6EBE"/>
                </a:solidFill>
              </a:defRPr>
            </a:pPr>
            <a:r>
              <a:t>Product Blueprint, Architecture &amp; Development Roadmap</a:t>
            </a:r>
          </a:p>
          <a:p>
            <a:pPr>
              <a:spcBef>
                <a:spcPts val="1800"/>
              </a:spcBef>
              <a:defRPr sz="1500">
                <a:solidFill>
                  <a:srgbClr val="5B6574"/>
                </a:solidFill>
              </a:defRPr>
            </a:pPr>
            <a:r>
              <a:t>Python • PyQt • 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297680"/>
            <a:ext cx="73152" cy="114300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434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Simple to use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Rich enough to analyze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29768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4297680"/>
            <a:ext cx="73152" cy="114300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4434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Light, calm UI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Desktop-first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429768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4297680"/>
            <a:ext cx="73152" cy="114300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4434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SQLite locally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History for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Product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A private productivity tool that feels light to use but stores enough structure for meaningful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164592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1. Capture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Quick Add for low-friction entry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Full form when details matter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164592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2. Organize clearly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31720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Status, priority, category, project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Filters and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73152" cy="164592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3. Learn from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31720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Completion trends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Cycle time, overdue rate, estimation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3931920"/>
            <a:ext cx="3840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20240" y="3931920"/>
            <a:ext cx="73152" cy="141732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406908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4. Stay maintainable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443484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Separate UI, data access and analytics logic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3840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931920"/>
            <a:ext cx="73152" cy="141732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406908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5. Grow later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43484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Recurring tasks, notifications, calendar integration, sync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UX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Recommended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Keep the three requested tabs, but design the app so a “Today” view can be added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73152" cy="182880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10312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Add a Todo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46888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Full task creation form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78224" y="2880360"/>
            <a:ext cx="429768" cy="0"/>
          </a:xfrm>
          <a:prstGeom prst="line">
            <a:avLst/>
          </a:prstGeom>
          <a:ln w="25400">
            <a:solidFill>
              <a:srgbClr val="5B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17720" y="196596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965960"/>
            <a:ext cx="73152" cy="182880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210312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List of Todos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246888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Search, filter, edit, complete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72983" y="2880360"/>
            <a:ext cx="429769" cy="0"/>
          </a:xfrm>
          <a:prstGeom prst="line">
            <a:avLst/>
          </a:prstGeom>
          <a:ln w="25400">
            <a:solidFill>
              <a:srgbClr val="5B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12480" y="196596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1965960"/>
            <a:ext cx="73152" cy="182880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210312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Statistics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46888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KPIs, trends, behavior analytics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4389120"/>
            <a:ext cx="6400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0360" y="4389120"/>
            <a:ext cx="73152" cy="118872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81528" y="4526280"/>
            <a:ext cx="6080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Future optional tab: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8" y="4892040"/>
            <a:ext cx="6080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Overdue • Due today • Upcoming • Completed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TODO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Todo data model: 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Separate fields into identity, organization, planning and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347472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23317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Task *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Description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Comment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82880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828800"/>
            <a:ext cx="73152" cy="347472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196596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331720"/>
            <a:ext cx="23317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Requested By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Category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Tags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651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73152" cy="347472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96596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331720"/>
            <a:ext cx="23317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Priority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Status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Start On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Due On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Estimated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828800"/>
            <a:ext cx="2286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60" y="1828800"/>
            <a:ext cx="73152" cy="347472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19659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331720"/>
            <a:ext cx="19659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Created At (auto)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Done On (auto)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Actual Time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Recurring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TODO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Field definitions &amp; recommended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Defaults should reduce typing and improve data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1920240" cy="393192"/>
          </a:xfrm>
          <a:prstGeom prst="rect">
            <a:avLst/>
          </a:prstGeom>
          <a:solidFill>
            <a:srgbClr val="DAE7F9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56231"/>
            <a:ext cx="1773936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2536"/>
                </a:solidFill>
              </a:defRPr>
            </a:pPr>
            <a: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783080"/>
            <a:ext cx="2377440" cy="393192"/>
          </a:xfrm>
          <a:prstGeom prst="rect">
            <a:avLst/>
          </a:prstGeom>
          <a:solidFill>
            <a:srgbClr val="DAE7F9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1856231"/>
            <a:ext cx="2231136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2536"/>
                </a:solidFill>
              </a:defRPr>
            </a:pPr>
            <a:r>
              <a:t>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783080"/>
            <a:ext cx="6492240" cy="393192"/>
          </a:xfrm>
          <a:prstGeom prst="rect">
            <a:avLst/>
          </a:prstGeom>
          <a:solidFill>
            <a:srgbClr val="DAE7F9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2" y="1856231"/>
            <a:ext cx="6345936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C2536"/>
                </a:solidFill>
              </a:defRPr>
            </a:pPr>
            <a:r>
              <a:t>Behavior / 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176272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240279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Task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2176272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2240279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TEXT,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80" y="2176272"/>
            <a:ext cx="6492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2" y="2240279"/>
            <a:ext cx="6345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Short actionable title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569464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633472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Requested By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2569464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9192" y="2633472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TEXT / optional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2569464"/>
            <a:ext cx="6492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2633472"/>
            <a:ext cx="6345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English equivalent of Auftraggeber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2962656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026664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Category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2962656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9192" y="302666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FK / optional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83480" y="2962656"/>
            <a:ext cx="6492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6632" y="3026664"/>
            <a:ext cx="6345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Broad classification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355848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419856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Priority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3355848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9192" y="3419856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ENUM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480" y="3355848"/>
            <a:ext cx="6492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6632" y="3419856"/>
            <a:ext cx="6345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Critical / High / Medium / 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3749039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3813048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Status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3749039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79192" y="3813048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ENUM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83480" y="3749039"/>
            <a:ext cx="6492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56632" y="3813048"/>
            <a:ext cx="6345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Inbox / Open / In Progress / Waiting / Done / Cancelled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142232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420624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Created 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6040" y="4142232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79192" y="4206240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DATETIME, auto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83480" y="4142232"/>
            <a:ext cx="6492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56632" y="4206240"/>
            <a:ext cx="6345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Generated on save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" y="4535424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4599432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Start 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6040" y="4535424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79192" y="4599432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DATE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83480" y="4535424"/>
            <a:ext cx="6492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56632" y="4599432"/>
            <a:ext cx="6345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Earliest planned work date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4928616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8952" y="4992624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Due 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06040" y="4928616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79192" y="499262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DATE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83480" y="4928616"/>
            <a:ext cx="6492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56632" y="4992624"/>
            <a:ext cx="6345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Deadline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" y="5321808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2" y="5385816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Done 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06040" y="5321808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79192" y="5385816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DATETIME, auto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83480" y="5321808"/>
            <a:ext cx="6492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56632" y="5385816"/>
            <a:ext cx="6345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Set when status becomes Done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" y="5715000"/>
            <a:ext cx="1920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8952" y="5779008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Comment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606040" y="5715000"/>
            <a:ext cx="23774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79192" y="5779008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TEXT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83480" y="5715000"/>
            <a:ext cx="6492240" cy="39319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56632" y="5779008"/>
            <a:ext cx="6345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2536"/>
                </a:solidFill>
              </a:defRPr>
            </a:pPr>
            <a:r>
              <a:t>Free notes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TODO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High-value additions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These fields unlock better organization and much richer statistics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155448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Estimated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3172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Store minutes; enables planning and estimation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828800"/>
            <a:ext cx="73152" cy="155448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Actual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33172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Compare actual effort with estimate.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82880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828800"/>
            <a:ext cx="73152" cy="155448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Tags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33172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Flexible many-to-many labels beyond category.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94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794760"/>
            <a:ext cx="73152" cy="155448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9319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29768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Group related tasks without creating a full project module initially.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794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794760"/>
            <a:ext cx="73152" cy="155448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9319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Recurring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29768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None / Daily / Weekly / Monthly / Yearly.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79476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3794760"/>
            <a:ext cx="73152" cy="155448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393192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Progress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4297680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Optional; useful mainly for larger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Status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A small state model keeps the app consistent and makes analytics trustworthy.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1737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3C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C6EBE"/>
                </a:solidFill>
              </a:defRPr>
            </a:pPr>
            <a:r>
              <a:t>Inbox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41448" y="2761488"/>
            <a:ext cx="484632" cy="0"/>
          </a:xfrm>
          <a:prstGeom prst="line">
            <a:avLst/>
          </a:prstGeom>
          <a:ln w="25400">
            <a:solidFill>
              <a:srgbClr val="5B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2331720"/>
            <a:ext cx="1737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C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606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8991"/>
                </a:solidFill>
              </a:defRPr>
            </a:pPr>
            <a:r>
              <a:t>Open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27448" y="2761488"/>
            <a:ext cx="484632" cy="0"/>
          </a:xfrm>
          <a:prstGeom prst="line">
            <a:avLst/>
          </a:prstGeom>
          <a:ln w="25400">
            <a:solidFill>
              <a:srgbClr val="5B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57800" y="2331720"/>
            <a:ext cx="1737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8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606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A892F"/>
                </a:solidFill>
              </a:defRPr>
            </a:pPr>
            <a:r>
              <a:t>In Progress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13448" y="2761488"/>
            <a:ext cx="484631" cy="0"/>
          </a:xfrm>
          <a:prstGeom prst="line">
            <a:avLst/>
          </a:prstGeom>
          <a:ln w="25400">
            <a:solidFill>
              <a:srgbClr val="5B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43800" y="2331720"/>
            <a:ext cx="1737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785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606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85DAB"/>
                </a:solidFill>
              </a:defRPr>
            </a:pPr>
            <a:r>
              <a:t>Waiting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99448" y="2761488"/>
            <a:ext cx="484632" cy="0"/>
          </a:xfrm>
          <a:prstGeom prst="line">
            <a:avLst/>
          </a:prstGeom>
          <a:ln w="25400">
            <a:solidFill>
              <a:srgbClr val="5B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29800" y="2331720"/>
            <a:ext cx="1737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3A8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26060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A8E5E"/>
                </a:solidFill>
              </a:defRPr>
            </a:pPr>
            <a:r>
              <a:t>Done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160520"/>
            <a:ext cx="3657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4160520"/>
            <a:ext cx="73152" cy="128016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29968" y="42976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Automation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4663440"/>
            <a:ext cx="3337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When status → Done: set Done On automatically.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60520"/>
            <a:ext cx="3657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160520"/>
            <a:ext cx="73152" cy="128016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297680"/>
            <a:ext cx="3337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Alternative end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663440"/>
            <a:ext cx="3337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Cancelled stays excluded from completion-rate denominators if you choose.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Recommended software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Keep UI code thin; put database access and business rules into their own layers.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73152" cy="146304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774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PyQt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4320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MainWindow + dialogs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24028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3240" y="2240280"/>
            <a:ext cx="73152" cy="146304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23774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Controllers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74320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Signals, validation,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224028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2240280"/>
            <a:ext cx="73152" cy="146304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8" y="23774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274320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Statistics + business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240280"/>
            <a:ext cx="1600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2240280"/>
            <a:ext cx="73152" cy="146304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37744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74320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CRUD + SQL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2240280"/>
            <a:ext cx="13258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95560" y="2240280"/>
            <a:ext cx="73152" cy="146304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96728" y="23774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96728" y="2743200"/>
            <a:ext cx="1005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Persistent local data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86000" y="2971800"/>
            <a:ext cx="685800" cy="0"/>
          </a:xfrm>
          <a:prstGeom prst="line">
            <a:avLst/>
          </a:prstGeom>
          <a:ln w="25400">
            <a:solidFill>
              <a:srgbClr val="5B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63440" y="2971800"/>
            <a:ext cx="868680" cy="0"/>
          </a:xfrm>
          <a:prstGeom prst="line">
            <a:avLst/>
          </a:prstGeom>
          <a:ln w="25400">
            <a:solidFill>
              <a:srgbClr val="5B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223760" y="2971800"/>
            <a:ext cx="868680" cy="0"/>
          </a:xfrm>
          <a:prstGeom prst="line">
            <a:avLst/>
          </a:prstGeom>
          <a:ln w="25400">
            <a:solidFill>
              <a:srgbClr val="5B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84080" y="2971800"/>
            <a:ext cx="320040" cy="0"/>
          </a:xfrm>
          <a:prstGeom prst="line">
            <a:avLst/>
          </a:prstGeom>
          <a:ln w="25400">
            <a:solidFill>
              <a:srgbClr val="5B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931920" y="4069080"/>
            <a:ext cx="4389120" cy="1920240"/>
          </a:xfrm>
          <a:prstGeom prst="roundRect">
            <a:avLst/>
          </a:prstGeom>
          <a:solidFill>
            <a:srgbClr val="F5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4178808"/>
            <a:ext cx="40233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6EBE"/>
                </a:solidFill>
              </a:defRPr>
            </a:pPr>
            <a:r>
              <a:t>Suggested project 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7" y="4453128"/>
            <a:ext cx="4005072" cy="1444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536"/>
                </a:solidFill>
                <a:latin typeface="Consolas"/>
              </a:defRPr>
            </a:pPr>
            <a:r>
              <a:t>TodoApp/</a:t>
            </a:r>
            <a:br/>
            <a:r>
              <a:t>├─ main.py</a:t>
            </a:r>
            <a:br/>
            <a:r>
              <a:t>├─ ui/</a:t>
            </a:r>
            <a:br/>
            <a:r>
              <a:t>├─ models/</a:t>
            </a:r>
            <a:br/>
            <a:r>
              <a:t>├─ repositories/</a:t>
            </a:r>
            <a:br/>
            <a:r>
              <a:t>├─ services/</a:t>
            </a:r>
            <a:br/>
            <a:r>
              <a:t>├─ database/</a:t>
            </a:r>
            <a:br/>
            <a:r>
              <a:t>├─ utils/</a:t>
            </a:r>
            <a:br/>
            <a:r>
              <a:t>└─ config/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Database schema: core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Start compact, but include a history table from day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832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73152" cy="310896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todos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31720"/>
            <a:ext cx="30632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Primary operational table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One row per Todo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Foreign keys to category/project if implemented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310896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31720"/>
            <a:ext cx="30632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Category master data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Avoid hardcoded values in UI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Supports later color/icon metadata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3832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28800"/>
            <a:ext cx="73152" cy="310896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todo_history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31720"/>
            <a:ext cx="30632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Every meaningful change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oldValue → newValue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Enables process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SQLite schema: practical starting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A compact schema that can grow without a rewrite.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649224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6126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6EBE"/>
                </a:solidFill>
              </a:defRPr>
            </a:pPr>
            <a:r>
              <a:t>todos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6108192" cy="40507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536"/>
                </a:solidFill>
                <a:latin typeface="Consolas"/>
              </a:defRPr>
            </a:pPr>
            <a:r>
              <a:t>CREATE TABLE todos (</a:t>
            </a:r>
            <a:br/>
            <a:r>
              <a:t>  id INTEGER PRIMARY KEY AUTOINCREMENT,</a:t>
            </a:r>
            <a:br/>
            <a:r>
              <a:t>  task TEXT NOT NULL, description TEXT, requestedBy TEXT,</a:t>
            </a:r>
            <a:br/>
            <a:r>
              <a:t>  categoryId INTEGER, priority TEXT NOT NULL DEFAULT 'Medium',</a:t>
            </a:r>
            <a:br/>
            <a:r>
              <a:t>  status TEXT NOT NULL DEFAULT 'Inbox', createdAt DATETIME NOT NULL,</a:t>
            </a:r>
            <a:br/>
            <a:r>
              <a:t>  startOn DATE, dueOn DATE, doneOn DATETIME,</a:t>
            </a:r>
            <a:br/>
            <a:r>
              <a:t>  estimatedMinutes INTEGER, actualMinutes INTEGER,</a:t>
            </a:r>
            <a:br/>
            <a:r>
              <a:t>  project TEXT, recurring TEXT DEFAULT 'None', progress INTEGER DEFAULT 0,</a:t>
            </a:r>
            <a:br/>
            <a:r>
              <a:t>  comment TEXT,</a:t>
            </a:r>
            <a:br/>
            <a:r>
              <a:t>  FOREIGN KEY(categoryId) REFERENCES categories(id)</a:t>
            </a:r>
            <a:br/>
            <a:r>
              <a:t>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737360"/>
            <a:ext cx="41148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847088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6EBE"/>
                </a:solidFill>
              </a:defRPr>
            </a:pPr>
            <a:r>
              <a:t>supporting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2088" y="2121408"/>
            <a:ext cx="3730752" cy="40507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536"/>
                </a:solidFill>
                <a:latin typeface="Consolas"/>
              </a:defRPr>
            </a:pPr>
            <a:r>
              <a:t>CREATE TABLE categories (</a:t>
            </a:r>
            <a:br/>
            <a:r>
              <a:t>  id INTEGER PRIMARY KEY AUTOINCREMENT,</a:t>
            </a:r>
            <a:br/>
            <a:r>
              <a:t>  name TEXT NOT NULL UNIQUE,</a:t>
            </a:r>
            <a:br/>
            <a:r>
              <a:t>  color TEXT,</a:t>
            </a:r>
            <a:br/>
            <a:r>
              <a:t>  active INTEGER NOT NULL DEFAULT 1</a:t>
            </a:r>
            <a:br/>
            <a:r>
              <a:t>);</a:t>
            </a:r>
            <a:br/>
            <a:br/>
            <a:r>
              <a:t>CREATE TABLE todo_history (</a:t>
            </a:r>
            <a:br/>
            <a:r>
              <a:t>  id INTEGER PRIMARY KEY AUTOINCREMENT,</a:t>
            </a:r>
            <a:br/>
            <a:r>
              <a:t>  todoId INTEGER NOT NULL,</a:t>
            </a:r>
            <a:br/>
            <a:r>
              <a:t>  changedAt DATETIME NOT NULL,</a:t>
            </a:r>
            <a:br/>
            <a:r>
              <a:t>  field TEXT NOT NULL,</a:t>
            </a:r>
            <a:br/>
            <a:r>
              <a:t>  oldValue TEXT, newValue TEXT,</a:t>
            </a:r>
            <a:br/>
            <a:r>
              <a:t>  FOREIGN KEY(todoId) REFERENCES todos(id)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Repository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All SQL belongs in one predictable place instead of being scattered through buttons and widgets.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4937760" cy="3566160"/>
          </a:xfrm>
          <a:prstGeom prst="roundRect">
            <a:avLst/>
          </a:prstGeom>
          <a:solidFill>
            <a:srgbClr val="F5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6EBE"/>
                </a:solidFill>
              </a:defRPr>
            </a:pPr>
            <a:r>
              <a:t>todo_repository.py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12848"/>
            <a:ext cx="4553712" cy="3090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536"/>
                </a:solidFill>
                <a:latin typeface="Consolas"/>
              </a:defRPr>
            </a:pPr>
            <a:r>
              <a:t>class TodoRepository:</a:t>
            </a:r>
            <a:br/>
            <a:r>
              <a:t>    def add_todo(self, todo): ...</a:t>
            </a:r>
            <a:br/>
            <a:r>
              <a:t>    def update_todo(self, todo_id, changes): ...</a:t>
            </a:r>
            <a:br/>
            <a:r>
              <a:t>    def delete_todo(self, todo_id): ...</a:t>
            </a:r>
            <a:br/>
            <a:r>
              <a:t>    def get_todo(self, todo_id): ...</a:t>
            </a:r>
            <a:br/>
            <a:r>
              <a:t>    def get_todos(self, filters=None): ...</a:t>
            </a:r>
            <a:br/>
            <a:r>
              <a:t>    def mark_done(self, todo_id): ...</a:t>
            </a:r>
            <a:br/>
            <a:r>
              <a:t>    def add_history(self, ...):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05740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UI never writes SQL directly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Central place for transactions and parameterized queries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Easier to test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Easier to migrate later if the database 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Tab 1 — Add a 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Design the form in sections so it never feels like a wall of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05156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86000"/>
            <a:ext cx="49834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Task *   |   Description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73152" cy="132588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10896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74720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Requested By   |   Category   |   Tags   |   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73152" cy="196596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92024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8600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Priority   |   Status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Start On   |   Due On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Estimated Time   |   Recurring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73152" cy="132588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06908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NOTES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434840"/>
            <a:ext cx="4983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Comment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72000"/>
            <a:ext cx="53035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572000"/>
            <a:ext cx="73152" cy="68580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70916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AUTO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074920"/>
            <a:ext cx="49834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Created At and Done On are not normal manual inputs.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Tab 2 — List of 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This should be the operational heart of the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73152" cy="73152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2024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FILTER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86000"/>
            <a:ext cx="1065276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Search  |  Status  |  Category  |  Priority  |  Due  |  Reset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3931920" cy="438912"/>
          </a:xfrm>
          <a:prstGeom prst="rect">
            <a:avLst/>
          </a:prstGeom>
          <a:solidFill>
            <a:srgbClr val="DAE7F9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34640"/>
            <a:ext cx="38221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2536"/>
                </a:solidFill>
              </a:defRPr>
            </a:pPr>
            <a:r>
              <a:t>Task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743200"/>
            <a:ext cx="1554480" cy="438912"/>
          </a:xfrm>
          <a:prstGeom prst="rect">
            <a:avLst/>
          </a:prstGeom>
          <a:solidFill>
            <a:srgbClr val="DAE7F9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834640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2536"/>
                </a:solidFill>
              </a:defRPr>
            </a:pPr>
            <a:r>
              <a:t>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743200"/>
            <a:ext cx="1325880" cy="438912"/>
          </a:xfrm>
          <a:prstGeom prst="rect">
            <a:avLst/>
          </a:prstGeom>
          <a:solidFill>
            <a:srgbClr val="DAE7F9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834640"/>
            <a:ext cx="12161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2536"/>
                </a:solidFill>
              </a:defRPr>
            </a:pPr>
            <a:r>
              <a:t>Priority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2743200"/>
            <a:ext cx="1554480" cy="438912"/>
          </a:xfrm>
          <a:prstGeom prst="rect">
            <a:avLst/>
          </a:prstGeom>
          <a:solidFill>
            <a:srgbClr val="DAE7F9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2834640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2536"/>
                </a:solidFill>
              </a:defRPr>
            </a:pPr>
            <a:r>
              <a:t>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2743200"/>
            <a:ext cx="1463040" cy="438912"/>
          </a:xfrm>
          <a:prstGeom prst="rect">
            <a:avLst/>
          </a:prstGeom>
          <a:solidFill>
            <a:srgbClr val="DAE7F9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7" y="2834640"/>
            <a:ext cx="13533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2536"/>
                </a:solidFill>
              </a:defRPr>
            </a:pPr>
            <a:r>
              <a:t>Due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599" y="2743200"/>
            <a:ext cx="914400" cy="438912"/>
          </a:xfrm>
          <a:prstGeom prst="rect">
            <a:avLst/>
          </a:prstGeom>
          <a:solidFill>
            <a:srgbClr val="DAE7F9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79607" y="2834640"/>
            <a:ext cx="8046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C2536"/>
                </a:solidFill>
              </a:defRPr>
            </a:pPr>
            <a:r>
              <a:t>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182112"/>
            <a:ext cx="3931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291840"/>
            <a:ext cx="38221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Prepare Power BI 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182112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291840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182112"/>
            <a:ext cx="1325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3291840"/>
            <a:ext cx="12161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3182112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3291840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In Progress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59" y="3182112"/>
            <a:ext cx="1463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567" y="3291840"/>
            <a:ext cx="13533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15 Sep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599" y="3182112"/>
            <a:ext cx="914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79607" y="3291840"/>
            <a:ext cx="8046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2d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712463"/>
            <a:ext cx="3931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822191"/>
            <a:ext cx="38221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Update local database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3712463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1728" y="3822191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Coding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712463"/>
            <a:ext cx="1325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822191"/>
            <a:ext cx="12161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Medium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79" y="3712463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62088" y="3822191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Open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59" y="3712463"/>
            <a:ext cx="1463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16567" y="3822191"/>
            <a:ext cx="13533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18 Sep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15599" y="3712463"/>
            <a:ext cx="914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79607" y="3822191"/>
            <a:ext cx="8046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1d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" y="4242816"/>
            <a:ext cx="3931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8" y="4352544"/>
            <a:ext cx="382219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Call insurance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4242816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81728" y="4352544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Private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4242816"/>
            <a:ext cx="13258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8" y="4352544"/>
            <a:ext cx="12161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Low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4242816"/>
            <a:ext cx="1554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62088" y="4352544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Waiting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59" y="4242816"/>
            <a:ext cx="14630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16567" y="4352544"/>
            <a:ext cx="13533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15599" y="4242816"/>
            <a:ext cx="914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79607" y="4352544"/>
            <a:ext cx="8046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C2536"/>
                </a:solidFill>
              </a:defRPr>
            </a:pPr>
            <a:r>
              <a:t>8d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5800" y="5074920"/>
            <a:ext cx="10972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5800" y="5074920"/>
            <a:ext cx="73152" cy="82296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6968" y="5212080"/>
            <a:ext cx="10652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ROW ACTIONS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" y="5577840"/>
            <a:ext cx="10652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Double-click → details/edit  •  Right-click → Done / Edit / Duplicate / Postpone / Delete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Quick 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A full form is useful; a three-field capture mode makes the app pleasant every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8503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011680"/>
            <a:ext cx="73152" cy="201168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2148840"/>
            <a:ext cx="8183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+ QUICK TODO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2514600"/>
            <a:ext cx="8183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Task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Due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Priority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389120"/>
            <a:ext cx="6309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4389120"/>
            <a:ext cx="73152" cy="91440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4526280"/>
            <a:ext cx="5989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Press Enter → save to Inbox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4892040"/>
            <a:ext cx="5989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Organize category/project later if needed.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Keyboard-first desktop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Small touches make the app feel much more polished.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73152" cy="132588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659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Ctrl +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317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New Todo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828800"/>
            <a:ext cx="73152" cy="132588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9659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Ctrl +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3317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Focus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73152" cy="132588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9659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Ctrl +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3317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Save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65760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657600"/>
            <a:ext cx="73152" cy="132588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7947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Ctrl + 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1605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Mark selected Todo 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65760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657600"/>
            <a:ext cx="73152" cy="132588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7947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1605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Delete selected Todo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65760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657600"/>
            <a:ext cx="73152" cy="132588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379476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F5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41605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Refresh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Tab 3 — Statistics: KPI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First show the current state; then trends and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128016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142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73152" cy="128016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33172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73152" cy="128016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In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33172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73152" cy="128016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61187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Overdue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977639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47472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474720"/>
            <a:ext cx="73152" cy="128016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361187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Completion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977639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81%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47472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474720"/>
            <a:ext cx="73152" cy="128016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61187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Avg/day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977639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4.2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5303520"/>
            <a:ext cx="85953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5303520"/>
            <a:ext cx="73152" cy="73152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9968" y="5440680"/>
            <a:ext cx="8275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9968" y="5806440"/>
            <a:ext cx="827532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Make every KPI clickable later to open the filtered Todo list behind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Core analytical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These are the most useful “how am I doing?” measures.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73152" cy="150876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202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Completion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86000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Done / eligible Todos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73152" cy="150876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9202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Overdue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286000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Open Todos past Due 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73152" cy="150876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19202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On-time completion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286000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Done On ≤ Due 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03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703320"/>
            <a:ext cx="73152" cy="150876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8404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Avg completion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206240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Created At → Done 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703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703320"/>
            <a:ext cx="73152" cy="150876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8404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Avg open 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206240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Today − Created 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70332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3703320"/>
            <a:ext cx="73152" cy="150876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384048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Oldest open Todo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4206240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Max age among unfinished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Trend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Use simple charts that answer specific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320040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Created vs 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315467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Two-line weekly/monthly trend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Shows whether backlog is growing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320040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Backlog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31720"/>
            <a:ext cx="315467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Open Todos over time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Shows if you are gaining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747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73152" cy="320040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65960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Completed per weekday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31720"/>
            <a:ext cx="315467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Average completed by weekday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Reveals productivity patterns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Estimated vs actual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A surprisingly valuable metric if you consistently record effort.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182880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6596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3172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Estimated: 60 min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Actual: 85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73152" cy="182880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96596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33172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+25 min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+41.7%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8288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828800"/>
            <a:ext cx="73152" cy="182880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96596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Use it by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33172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Programming vs Finance vs Private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6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Track systematic underestimation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Improve future planning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Optionally calculate median as well as average to reduce outlier distortion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Requested-by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Because “Requested By” is stored, you can analyze where work originates.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2024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920240"/>
            <a:ext cx="73152" cy="201168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05740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Volume by requester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423160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How many Todos came from each source?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2024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920240"/>
            <a:ext cx="73152" cy="201168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05740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Completion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423160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Who tends to create long-running work?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92024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920240"/>
            <a:ext cx="73152" cy="201168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05740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Overdue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423160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Which requester/category combinations become late?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4572000"/>
            <a:ext cx="8046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7400" y="4572000"/>
            <a:ext cx="73152" cy="86868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58568" y="4709160"/>
            <a:ext cx="7726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Privacy note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5074920"/>
            <a:ext cx="772668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Since this is a personal local app, keep these analytics local unless you intentionally export them.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Why todo_history is worth adding immediately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It turns a CRUD app into a small process-analysis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846320" cy="3474720"/>
          </a:xfrm>
          <a:prstGeom prst="roundRect">
            <a:avLst/>
          </a:prstGeom>
          <a:solidFill>
            <a:srgbClr val="F5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44805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6EBE"/>
                </a:solidFill>
              </a:defRPr>
            </a:pPr>
            <a:r>
              <a:t>Example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12848"/>
            <a:ext cx="4462272" cy="2999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536"/>
                </a:solidFill>
                <a:latin typeface="Consolas"/>
              </a:defRPr>
            </a:pPr>
            <a:r>
              <a:t>10 Sep 09:12  CREATED</a:t>
            </a:r>
            <a:br/>
            <a:r>
              <a:t>10 Sep 10:05  Status: Inbox → Open</a:t>
            </a:r>
            <a:br/>
            <a:r>
              <a:t>11 Sep 14:20  Status: Open → In Progress</a:t>
            </a:r>
            <a:br/>
            <a:r>
              <a:t>12 Sep 08:30  Due On: 15 Sep → 18 Sep</a:t>
            </a:r>
            <a:br/>
            <a:r>
              <a:t>17 Sep 16:45  Status: In Progress →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Average time spent in each status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Number of deadline extensions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Reopened tasks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Waiting-time analysis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Lead time vs active work time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FANCY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Todo detail dialog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Double-clicking a row should open one focused detail window.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4922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73152" cy="411480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20240"/>
            <a:ext cx="6172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Prepare Power BI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86000"/>
            <a:ext cx="6172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Status: In Progress   |   Priority: High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Due: 15 Sep   |   Category: Work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Description: …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Comments: …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History: 10 Sep created → 11 Sep started → 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783080"/>
            <a:ext cx="3703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783080"/>
            <a:ext cx="73152" cy="137160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192024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Primary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228600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Save changes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Mark Done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429000"/>
            <a:ext cx="3703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3429000"/>
            <a:ext cx="73152" cy="137160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6408" y="356616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Secondary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3931920"/>
            <a:ext cx="3383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Duplicate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Postpone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5074920"/>
            <a:ext cx="3703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5074920"/>
            <a:ext cx="73152" cy="82296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36408" y="521208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Danger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5577840"/>
            <a:ext cx="3383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Delete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Visual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Use color sparingly for meaning; keep the overall interface light and calm.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73152" cy="146304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202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86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Immediate attention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73152" cy="146304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9202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286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Important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73152" cy="146304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19202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286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Normal focus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657600"/>
            <a:ext cx="73152" cy="1463040"/>
          </a:xfrm>
          <a:prstGeom prst="rect">
            <a:avLst/>
          </a:prstGeom>
          <a:solidFill>
            <a:srgbClr val="5B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794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Can wait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6576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657600"/>
            <a:ext cx="73152" cy="146304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794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Completed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6576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3657600"/>
            <a:ext cx="73152" cy="146304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3794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Waiting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Blocked / external dependency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Settings worth adding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Keep configuration out of source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Default priority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Default status for Quick Add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Week starts Monday/Sunday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Date display format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Default category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Confirmation before deletion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Automatic database backup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Optional launch-on-start behavior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965960"/>
            <a:ext cx="4297680" cy="3200400"/>
          </a:xfrm>
          <a:prstGeom prst="roundRect">
            <a:avLst/>
          </a:prstGeom>
          <a:solidFill>
            <a:srgbClr val="F5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075688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6EBE"/>
                </a:solidFill>
              </a:defRPr>
            </a:pPr>
            <a:r>
              <a:t>Example 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350008"/>
            <a:ext cx="3913632" cy="2724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536"/>
                </a:solidFill>
                <a:latin typeface="Consolas"/>
              </a:defRPr>
            </a:pPr>
            <a:r>
              <a:t>settings = {</a:t>
            </a:r>
            <a:br/>
            <a:r>
              <a:t>  'default_priority': 'Medium',</a:t>
            </a:r>
            <a:br/>
            <a:r>
              <a:t>  'default_status': 'Inbox',</a:t>
            </a:r>
            <a:br/>
            <a:r>
              <a:t>  'date_format': 'yyyy-MM-dd',</a:t>
            </a:r>
            <a:br/>
            <a:r>
              <a:t>  'confirm_delete': True,</a:t>
            </a:r>
            <a:br/>
            <a:r>
              <a:t>  'auto_backup': True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Validation &amp; business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Define these rules once in a service/helper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Task cannot be empty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Due On should not be before Start On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Progress must stay between 0 and 100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Done status sets Done On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Leaving Done can optionally clear Done On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Actual minutes cannot be negative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Use parameterized SQL only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Deleting a Todo should optionally preserve history or cascade intentionally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Backup &amp; data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SQLite is simple, but your personal task history becomes valuable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73152" cy="182880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6596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Daily 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3172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Copy TodoApp.db to backups/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Timestamp the filename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73152" cy="182880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96596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Manual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33172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CSV / Excel export of Todos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Optional statistics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73152" cy="182880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965960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331720"/>
            <a:ext cx="29260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Restore from chosen backup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Validate DB before replacing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4526280"/>
            <a:ext cx="530352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4636008"/>
            <a:ext cx="49377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6EBE"/>
                </a:solidFill>
              </a:defRPr>
            </a:pPr>
            <a:r>
              <a:t>Simple naming convention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910328"/>
            <a:ext cx="4919472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C2536"/>
                </a:solidFill>
                <a:latin typeface="Consolas"/>
              </a:defRPr>
            </a:pPr>
            <a:r>
              <a:t>backups/TodoApp_2026-09-11_0900.db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Testing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You do not need a huge test suite, but a few focused tests will save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237744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Repository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3172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Insert Todo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Update Todo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Filter Todos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Delete Todo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History write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237744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Service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3172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Completion rate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Overdue calculation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Done-on automation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Date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828800"/>
            <a:ext cx="73152" cy="237744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UI smoke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33172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Create → appears in list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Edit → persists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Done → stats refresh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Development roadmap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Build in vertical slices: database → usable feature → polish →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150876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659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1. 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828800"/>
            <a:ext cx="73152" cy="150876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19659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2.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73152" cy="150876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9659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3. Add Todo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59" y="182880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59" y="1828800"/>
            <a:ext cx="73152" cy="150876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19659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4. Todo 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73152" cy="150876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40233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5. Edit &amp;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39" y="388620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0439" y="3886200"/>
            <a:ext cx="73152" cy="150876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7" y="40233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6. Statistics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8620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886200"/>
            <a:ext cx="73152" cy="150876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0233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7. Polish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59" y="388620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81159" y="3886200"/>
            <a:ext cx="73152" cy="150876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82328" y="40233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8. Advanced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Step 1 — Project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Goal: the app launches cleanly and the codebase already has the final folder boundaries.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Create virtual environment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Install PyQt5 or PyQt6 and choose one consistently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Create project folders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Create main.py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Create empty MainWindow with the 3 tabs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Add centralized stylesheet file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Initialize Git repository and .gitignore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96596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965960"/>
            <a:ext cx="73152" cy="201168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210312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Definition of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468880"/>
            <a:ext cx="2971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App opens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Tabs switch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No database logic yet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Step 2 — Database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Goal: reliable persistence before building real UI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629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Create database.py connection helper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Enable PRAGMA foreign_keys = ON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Create tables: todos, categories, todo_history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Seed default categories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Create TodoRepository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Test insert / read / update / delete manually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96596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965960"/>
            <a:ext cx="73152" cy="219456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210312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Definition of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468880"/>
            <a:ext cx="2971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A Python script can create a Todo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Read it back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Update it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History can be written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Step 3 — Build “Add a Todo”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Goal: create real Todos from the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629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Create form sections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Use dropdowns for Priority, Status, Category, Recurring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Use date widgets for Start / Due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Auto-generate Created At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Validate required fields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Save through TodoRepository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Clear or preserve form after save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Show concise success/error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965960"/>
            <a:ext cx="3291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965960"/>
            <a:ext cx="73152" cy="228600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210312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Definition of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468880"/>
            <a:ext cx="2971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Create Todo from UI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Restart app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Todo still exists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Step 4 — Build the Todo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Goal: make the application usable for day-to-day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766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Load Todos into QTableView/QTableWidget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Add search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Add filters for status/category/priority/due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Sort by due date and priority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Add quick actions: Done / Delete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Add right-click context menu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Refresh after every mutation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Highlight overdue and priority visually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965960"/>
            <a:ext cx="3291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965960"/>
            <a:ext cx="73152" cy="228600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210312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Definition of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468880"/>
            <a:ext cx="2971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You can manage a whole day from this tab without touching SQLite directly.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Step 5 — Editing, detail dialog &amp;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Goal: preserve lifecycle information, not just the latest 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720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Open detail dialog on double-click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Load current Todo values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Compare old vs new values on save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Write history rows only for changed fields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Auto-set Done On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Implement Postpone to Tomorrow / +1 Week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Optional Duplicate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965960"/>
            <a:ext cx="3291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965960"/>
            <a:ext cx="73152" cy="237744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210312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Definition of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468880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You can inspect how a Todo changed over time.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Step 6 —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Goal: turn stored tasks into insight.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812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Create StatisticsService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Build KPI queries first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Then add category/priority distributions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Add Created vs Completed trend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Add backlog trend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Add weekday productivity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Add estimation accuracy after enough data exists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Refresh statistics when tasks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965960"/>
            <a:ext cx="3291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965960"/>
            <a:ext cx="73152" cy="237744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210312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Definition of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468880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Every metric is reproducible from SQL and has a clear definition.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Step 7 — Polish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Goal: make the app feel finished rather than merely functional.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Add Quick Add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Keyboard shortcuts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Consistent icons and spacing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Empty-state messages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Confirmation on destructive actions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Automatic backup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Persistent window size / last filters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Improve error handling and logging</a:t>
            </a:r>
          </a:p>
          <a:p>
            <a:pPr>
              <a:spcAft>
                <a:spcPts val="800"/>
              </a:spcAft>
              <a:defRPr sz="1600">
                <a:solidFill>
                  <a:srgbClr val="1C2536"/>
                </a:solidFill>
              </a:defRPr>
            </a:pPr>
            <a:r>
              <a:t>• Package the app as an executable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965960"/>
            <a:ext cx="3291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965960"/>
            <a:ext cx="73152" cy="237744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2103120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Definition of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468880"/>
            <a:ext cx="2971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You can launch it like a normal desktop app and trust your data.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Step 8 — Advanced features after the core is 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Only add these once V1 is something you already enjoy using.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73152" cy="146304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202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Recurring task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86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Generate next occurrence on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73152" cy="146304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9202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Today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286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Overdue + today + upcoming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73152" cy="146304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19202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2286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Desktop reminder before due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657600"/>
            <a:ext cx="73152" cy="146304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794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Projects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Dedicated project table + dashboard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6576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657600"/>
            <a:ext cx="73152" cy="146304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794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Many-to-many tags table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36576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3657600"/>
            <a:ext cx="73152" cy="1463040"/>
          </a:xfrm>
          <a:prstGeom prst="rect">
            <a:avLst/>
          </a:prstGeom>
          <a:solidFill>
            <a:srgbClr val="C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3794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Calendar 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416052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Optional future integration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Concrete build order by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A practical sequence so each new file has an immediate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1  database/database.py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2  database/schema.sql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3  models/todo.py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4  repositories/todo_repository.py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5  ui/MainWindow.ui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6  ui/main_window.py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7  services/todo_service.py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8  ui/todo_detail_dialog.py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9  services/statistics_service.py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10 utils/backup.py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11 config/settings.py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12 main.py packaging cleanup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V1 acceptance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Do not call V1 finished until these flows work 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Create a Todo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Restart app and see it again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Search/filter it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Edit it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Postpone it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Mark it Done and get Done On automatically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See its history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See KPIs update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Create a backup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Restore from a backup copy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Handle invalid input without crashing</a:t>
            </a:r>
          </a:p>
          <a:p>
            <a:pPr>
              <a:spcAft>
                <a:spcPts val="800"/>
              </a:spcAft>
              <a:defRPr sz="1500">
                <a:solidFill>
                  <a:srgbClr val="1C2536"/>
                </a:solidFill>
              </a:defRPr>
            </a:pPr>
            <a:r>
              <a:t>• Package and launch outside the IDE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Future schema upgrades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When the app grows, normalize only the concepts that truly need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210312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id, name, status, color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todos.projectId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210312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tags + todo_tags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31720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Many-to-many relationship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Flexible labels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73152" cy="210312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659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recurrence_rules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31720"/>
            <a:ext cx="306324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Frequency, interval, nextRun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Avoid cramming complex recurrence into one text field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3120" y="4434840"/>
            <a:ext cx="795527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03120" y="4434840"/>
            <a:ext cx="73152" cy="1051560"/>
          </a:xfrm>
          <a:prstGeom prst="rect">
            <a:avLst/>
          </a:prstGeom>
          <a:solidFill>
            <a:srgbClr val="DA8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4572000"/>
            <a:ext cx="7635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Guideline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4937759"/>
            <a:ext cx="763524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Do not normalize prematurely; earn the extra tables when the feature needs them.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6EBE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C2536"/>
                </a:solidFill>
              </a:defRPr>
            </a:pPr>
            <a:r>
              <a:t>The target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574"/>
                </a:solidFill>
              </a:defRPr>
            </a:pPr>
            <a:r>
              <a:t>A small app with a very clear development path and enough data structure to become genuinely useful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574"/>
                </a:solidFill>
              </a:defRPr>
            </a:pPr>
            <a: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2148840"/>
          </a:xfrm>
          <a:prstGeom prst="rect">
            <a:avLst/>
          </a:prstGeom>
          <a:solidFill>
            <a:srgbClr val="3C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Start 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317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3 tabs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SQLite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Clean CRUD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Light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73152" cy="2148840"/>
          </a:xfrm>
          <a:prstGeom prst="rect">
            <a:avLst/>
          </a:prstGeom>
          <a:solidFill>
            <a:srgbClr val="2C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Design for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3317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History table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Consistent statuses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Dates + effort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828800"/>
            <a:ext cx="73152" cy="2148840"/>
          </a:xfrm>
          <a:prstGeom prst="rect">
            <a:avLst/>
          </a:prstGeom>
          <a:solidFill>
            <a:srgbClr val="78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9659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Polish after utility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317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Quick Add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Shortcuts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Backups</a:t>
            </a:r>
          </a:p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Packaging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4617720"/>
            <a:ext cx="7772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4617720"/>
            <a:ext cx="73152" cy="914400"/>
          </a:xfrm>
          <a:prstGeom prst="rect">
            <a:avLst/>
          </a:prstGeom>
          <a:solidFill>
            <a:srgbClr val="3A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95728" y="4754880"/>
            <a:ext cx="7452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B6574"/>
                </a:solidFill>
              </a:defRPr>
            </a:pPr>
            <a:r>
              <a:t>Recommended next coding milestone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5120640"/>
            <a:ext cx="7452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536"/>
                </a:solidFill>
              </a:defRPr>
            </a:pPr>
            <a:r>
              <a:t>Build the database schema + repository before connecting the first Save button.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